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85" r:id="rId3"/>
    <p:sldId id="291" r:id="rId4"/>
    <p:sldId id="305" r:id="rId5"/>
    <p:sldId id="284" r:id="rId6"/>
    <p:sldId id="292" r:id="rId7"/>
    <p:sldId id="306" r:id="rId8"/>
    <p:sldId id="307" r:id="rId9"/>
    <p:sldId id="308" r:id="rId10"/>
    <p:sldId id="309" r:id="rId11"/>
    <p:sldId id="275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 userDrawn="1">
          <p15:clr>
            <a:srgbClr val="A4A3A4"/>
          </p15:clr>
        </p15:guide>
        <p15:guide id="2" orient="horz" pos="3974" userDrawn="1">
          <p15:clr>
            <a:srgbClr val="A4A3A4"/>
          </p15:clr>
        </p15:guide>
        <p15:guide id="3" pos="438" userDrawn="1">
          <p15:clr>
            <a:srgbClr val="A4A3A4"/>
          </p15:clr>
        </p15:guide>
        <p15:guide id="4" pos="7242" userDrawn="1">
          <p15:clr>
            <a:srgbClr val="A4A3A4"/>
          </p15:clr>
        </p15:guide>
        <p15:guide id="5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32" y="546"/>
      </p:cViewPr>
      <p:guideLst>
        <p:guide orient="horz" pos="346"/>
        <p:guide orient="horz" pos="3974"/>
        <p:guide pos="438"/>
        <p:guide pos="724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8FABF-92EB-4A28-9D96-EEEDC3A31D40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7C420-320D-43F3-8A1E-7EA6D07B5A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086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A4CA74-5891-0962-7F34-2D269883B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64628B-ACFC-48BD-994A-A45DD37153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AB6A32-3498-D97F-C566-BFD3B9D03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DEE1F-2934-495D-856C-8D902092E890}" type="datetime1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6321E8-D9B6-367F-E84E-51DDB4F6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59484B-4F4B-27E6-B99D-C697E1307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252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5D697F-B881-D447-A8A1-3653B7B02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B53F89-90BF-2629-502D-5931D4066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6EA5B8-4726-9188-6115-B89106A16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4DE2A-647D-4500-9D2E-502AC02C4614}" type="datetime1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B00C1B-CF92-0371-90DB-79F8D564C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90595D-A75F-CAB5-AE90-E3E07EB49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387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0A941C-ACAE-B768-7847-E6775439C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1B2D38-00F6-3DFA-E503-F0C09CEAA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EFF993-96BC-9FC1-91ED-92777C56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44451-672F-45F1-88E4-8B4F5094B741}" type="datetime1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EF5120-F671-1C1E-3C47-E98D2E581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00AE5C-F751-1159-5464-822147EB9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050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389D2C-3651-CAFC-EF50-E83DF2ED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247EC4-6DE9-B843-CAF2-ECE6808F6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E7E96C9-AD9C-F0F3-2E8C-448EA93C8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1F51A0-F82C-0F42-DA6A-C48D9844F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36CC5-59D3-433C-92EF-64C02CE878DA}" type="datetime1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83A810-3FD3-3810-80CA-B4428307C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F73FCE-213E-6581-2041-1B43E3B93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679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E52D6-1E2A-DE3E-2D07-2E3639A0F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30DD91-D018-EAF1-500D-F8F9F4BF3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A85A0B-BEBB-9177-5351-7804EF964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1C7659-04A4-F62B-7725-6100AA605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367E88D-9109-7F25-8154-BFA4446255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6E328C5-8E0E-C1ED-C124-4D6E58853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05CA7-9EF3-40A2-95F2-8EF16B26BE6A}" type="datetime1">
              <a:rPr lang="ru-RU" smtClean="0"/>
              <a:t>13.10.2026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485F774-367D-382E-36A4-B02393AB6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D2816B7-62C6-5A7E-6221-A1C3BFAD7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3821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992608-AD05-9047-97D8-E93C65FFE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F8238BA-2101-77D5-A4A4-FC7194BAF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9540-2548-477D-A6DA-EDB84F67A50B}" type="datetime1">
              <a:rPr lang="ru-RU" smtClean="0"/>
              <a:t>13.10.2026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ABF0DD2-0F4D-22FB-9506-1208C7DDE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B478D59-A710-67CE-9B76-A263D4B06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252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8E2444-CD58-EA1B-B50E-CE11C519D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2C029-194E-49EB-BA02-35756DA27575}" type="datetime1">
              <a:rPr lang="ru-RU" smtClean="0"/>
              <a:t>13.10.2026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610BB43-416E-C502-0F45-D775BEC01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87ECDD-7BAF-97B9-6CBB-FC6C011F4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106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0987DC-2CF0-A417-54B2-EB45847C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BB83F4-BB96-ABA4-D745-BFF31E9D1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903BE5-A6FD-B9F1-B587-54F7D6F79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0B34B-03D1-CB35-F9AE-9676E7561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9CD5A-8A32-448E-8FB6-21BB2461D800}" type="datetime1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EEDB42-EF94-B74D-FFE7-AEEBCE667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CE31A8-9A03-2ECD-356B-105A2DC52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00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9275C9-7E70-5004-7B95-36350E0F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2B57CA-452A-2A34-7E96-F835183AF1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A32018-C8DE-2E14-570A-477764094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5C992C-AA87-E56F-BF8D-ACB7934F4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9BF4E-BA3A-41CB-9559-EB408650D4F0}" type="datetime1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00FC96-E622-5106-A5AE-813FA528A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53811D-1610-9287-2708-3EC0E481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7304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E11837-011F-931C-53F9-AC857C4D4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E5D3AE-FF19-7B37-DAA8-952CF5644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72F4D5-4F29-AAA2-D0B8-ED332AE17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7BD34-D32B-4D72-9CBA-4E8D578FEEE7}" type="datetime1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FCD33D-1639-1C28-89A1-B4CD79954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0FF268-F5B4-B806-9A84-E613BB981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4017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A6B3C08-346F-3C81-D7C3-470FD0CC6A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B13B125-F7C1-BA50-74E5-9532D7DB4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94640D-C2A1-81D1-B46A-EC3CD65DF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685BE-6B8F-41F3-A0F2-64C4E49B1807}" type="datetime1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06C275-6A53-9424-13E9-EDB738B0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05B914-D3CF-239C-B60A-DA29285D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092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0D70B-ECE8-4548-DCA1-2D3D51054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D11D8A-F8B5-F07E-8C28-BD7E27E8E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F890C8-E192-9413-A04C-AF73FBE9A0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FBBDD-9558-4802-8A3E-66A2C0A2BB66}" type="datetime1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82FD1-0430-A04B-58D3-01321D466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47C9A9-A8A9-77B5-50C8-66103CF77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A371D6-626E-4711-87E0-599E0F8A4C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65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FD6347-2948-828C-BECF-D54422C54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4" y="2405376"/>
            <a:ext cx="10801350" cy="2047248"/>
          </a:xfrm>
        </p:spPr>
        <p:txBody>
          <a:bodyPr anchor="ctr">
            <a:noAutofit/>
          </a:bodyPr>
          <a:lstStyle/>
          <a:p>
            <a:r>
              <a:rPr lang="ru-RU" sz="4500" dirty="0"/>
              <a:t>Лабораторная работа №</a:t>
            </a:r>
            <a:r>
              <a:rPr lang="en-US" sz="4500" dirty="0"/>
              <a:t>1</a:t>
            </a:r>
            <a:r>
              <a:rPr lang="ru-RU" sz="4500" dirty="0"/>
              <a:t>:</a:t>
            </a:r>
            <a:br>
              <a:rPr lang="ru-RU" sz="4500" dirty="0"/>
            </a:br>
            <a:r>
              <a:rPr lang="ru-RU" sz="4500" b="1" dirty="0"/>
              <a:t>Реализация взаимодействия агента со средой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F5BA5D-C693-EE1D-CB03-23984F88CBB5}"/>
              </a:ext>
            </a:extLst>
          </p:cNvPr>
          <p:cNvSpPr txBox="1"/>
          <p:nvPr/>
        </p:nvSpPr>
        <p:spPr>
          <a:xfrm>
            <a:off x="8801600" y="5570061"/>
            <a:ext cx="26950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400" dirty="0"/>
              <a:t>Работу выполнил:</a:t>
            </a:r>
            <a:br>
              <a:rPr lang="ru-RU" sz="1400" dirty="0"/>
            </a:br>
            <a:r>
              <a:rPr lang="ru-RU" sz="1400" dirty="0"/>
              <a:t>студент 932302 группы</a:t>
            </a:r>
            <a:br>
              <a:rPr lang="ru-RU" sz="1400" dirty="0"/>
            </a:br>
            <a:r>
              <a:rPr lang="ru-RU" sz="1400" dirty="0"/>
              <a:t>Акрамов </a:t>
            </a:r>
            <a:r>
              <a:rPr lang="ru-RU" sz="1400" dirty="0" err="1"/>
              <a:t>Темирлан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688284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75B349-53B7-2440-E02F-489C9877A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549275"/>
            <a:ext cx="10801350" cy="700672"/>
          </a:xfrm>
        </p:spPr>
        <p:txBody>
          <a:bodyPr>
            <a:normAutofit/>
          </a:bodyPr>
          <a:lstStyle/>
          <a:p>
            <a:pPr algn="just"/>
            <a:r>
              <a:rPr lang="ru-RU" b="1" dirty="0">
                <a:latin typeface="+mn-lt"/>
              </a:rPr>
              <a:t>Задачи</a:t>
            </a:r>
            <a:endParaRPr lang="ru-RU" sz="5400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4A078A-D5D7-5B07-C4F8-ADB919DBB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301155"/>
            <a:ext cx="10801350" cy="2255690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ru-RU" sz="2400" dirty="0"/>
              <a:t>1. Сформировать карту на основе реального города.</a:t>
            </a:r>
          </a:p>
          <a:p>
            <a:pPr marL="0" indent="0">
              <a:buNone/>
            </a:pPr>
            <a:r>
              <a:rPr lang="ru-RU" sz="2400" dirty="0"/>
              <a:t>2. Настроить логику среды (генерация и движение машин).</a:t>
            </a:r>
          </a:p>
          <a:p>
            <a:pPr marL="0" indent="0">
              <a:buNone/>
            </a:pPr>
            <a:r>
              <a:rPr lang="ru-RU" sz="2400" dirty="0"/>
              <a:t>3. Реализовать 3 стратегии движения агента.</a:t>
            </a:r>
          </a:p>
          <a:p>
            <a:pPr marL="0" indent="0">
              <a:buNone/>
            </a:pPr>
            <a:r>
              <a:rPr lang="ru-RU" sz="2400" dirty="0"/>
              <a:t>4. Провести серию экспериментов.</a:t>
            </a:r>
          </a:p>
          <a:p>
            <a:pPr marL="0" indent="0">
              <a:buNone/>
            </a:pPr>
            <a:r>
              <a:rPr lang="ru-RU" sz="2400" dirty="0"/>
              <a:t>5. Проанализировать результаты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1EA1AE-2C5B-FB9C-5E04-AC6D5FF9E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443168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695325" y="549275"/>
            <a:ext cx="10801350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4400" b="1" dirty="0">
                <a:latin typeface="+mj-lt"/>
              </a:rPr>
              <a:t>Среда моделирования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695325" y="1326931"/>
            <a:ext cx="10801350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400" dirty="0"/>
              <a:t>Для моделирования использован реальный городской сектор вокруг городского сада г. Томска, по изображению слева была получена карта (справа) 50х50 ячеек. Все дороги считаются двусторонними.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3</a:t>
            </a:fld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E109B19-2FB1-53F4-41DF-90AA78801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875" y="2737093"/>
            <a:ext cx="3371950" cy="3370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5A304BC-CFC5-3925-2813-FCD1A7F7D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35475"/>
            <a:ext cx="3773250" cy="3773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925457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695325" y="549275"/>
            <a:ext cx="10801350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4400" b="1" dirty="0">
                <a:latin typeface="+mj-lt"/>
              </a:rPr>
              <a:t>Логика среды, стратегии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695325" y="1376908"/>
            <a:ext cx="10801350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400" b="1" dirty="0"/>
              <a:t>Сторонние автомобили: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Время жизни от 15 до 150 шагов</a:t>
            </a:r>
            <a:r>
              <a:rPr lang="en-US" sz="2400" dirty="0"/>
              <a:t>;</a:t>
            </a:r>
            <a:endParaRPr lang="ru-RU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70% вероятность сохранить направление движения</a:t>
            </a:r>
            <a:r>
              <a:rPr lang="en-US" sz="2400" dirty="0"/>
              <a:t>;</a:t>
            </a:r>
            <a:endParaRPr lang="ru-RU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30% вероятность смены направления движения</a:t>
            </a:r>
            <a:r>
              <a:rPr lang="en-US" sz="2400" dirty="0"/>
              <a:t>.</a:t>
            </a:r>
            <a:endParaRPr lang="ru-RU" sz="240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4</a:t>
            </a:fld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7B8480-3B5A-6A53-6B18-9550ED211F0D}"/>
              </a:ext>
            </a:extLst>
          </p:cNvPr>
          <p:cNvSpPr txBox="1"/>
          <p:nvPr/>
        </p:nvSpPr>
        <p:spPr>
          <a:xfrm>
            <a:off x="695325" y="3057986"/>
            <a:ext cx="1080135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400" b="1" dirty="0"/>
              <a:t>Навигация: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Расчет карты расстояний с помощью поиска в ширину</a:t>
            </a:r>
            <a:r>
              <a:rPr lang="en-US" sz="2400" dirty="0"/>
              <a:t>.</a:t>
            </a:r>
            <a:endParaRPr lang="ru-R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A6C726-DA9C-F5A4-F56E-E20ACCE15C67}"/>
              </a:ext>
            </a:extLst>
          </p:cNvPr>
          <p:cNvSpPr txBox="1"/>
          <p:nvPr/>
        </p:nvSpPr>
        <p:spPr>
          <a:xfrm>
            <a:off x="695325" y="4000401"/>
            <a:ext cx="10801350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400" b="1" dirty="0"/>
              <a:t>Стратегии: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Shortest – </a:t>
            </a:r>
            <a:r>
              <a:rPr lang="ru-RU" sz="2400" dirty="0"/>
              <a:t>выбор кратчайшего пути</a:t>
            </a:r>
            <a:r>
              <a:rPr lang="en-US" sz="2400" dirty="0"/>
              <a:t>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Predictive – </a:t>
            </a:r>
            <a:r>
              <a:rPr lang="ru-RU" sz="2400" dirty="0"/>
              <a:t>выбор кратчайшего пути без учета клеток, занятых машинами</a:t>
            </a:r>
            <a:r>
              <a:rPr lang="en-US" sz="2400" dirty="0"/>
              <a:t>;</a:t>
            </a:r>
            <a:endParaRPr lang="ru-RU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Safe – </a:t>
            </a:r>
            <a:r>
              <a:rPr lang="ru-RU" sz="2400" dirty="0"/>
              <a:t>выбор кратчайшего пути без учета клеток, занятых машинами и тех, что её окружают.</a:t>
            </a:r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1713557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695325" y="549275"/>
            <a:ext cx="10801350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4400" b="1" dirty="0">
                <a:latin typeface="+mj-lt"/>
              </a:rPr>
              <a:t>Эксперименты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695325" y="2305615"/>
            <a:ext cx="10801350" cy="224676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800" b="1" dirty="0"/>
              <a:t>Вероятности генерации машин: </a:t>
            </a:r>
            <a:r>
              <a:rPr lang="ru-RU" sz="2800" dirty="0"/>
              <a:t>0.005</a:t>
            </a:r>
            <a:r>
              <a:rPr lang="en-US" sz="2800" dirty="0"/>
              <a:t>, 0.01, 0.02, 0.03, 0.05</a:t>
            </a:r>
          </a:p>
          <a:p>
            <a:pPr algn="just"/>
            <a:r>
              <a:rPr lang="ru-RU" sz="2800" b="1" dirty="0"/>
              <a:t>Старты: </a:t>
            </a:r>
            <a:r>
              <a:rPr lang="ru-RU" sz="2800" dirty="0"/>
              <a:t>3 точки</a:t>
            </a:r>
            <a:endParaRPr lang="en-US" sz="2800" dirty="0"/>
          </a:p>
          <a:p>
            <a:pPr algn="just"/>
            <a:r>
              <a:rPr lang="ru-RU" sz="2800" b="1" dirty="0"/>
              <a:t>Стратегии: </a:t>
            </a:r>
            <a:r>
              <a:rPr lang="en-US" sz="2800" dirty="0"/>
              <a:t>shortest, predictive, safe</a:t>
            </a:r>
            <a:endParaRPr lang="ru-RU" sz="2800" dirty="0"/>
          </a:p>
          <a:p>
            <a:pPr algn="just"/>
            <a:r>
              <a:rPr lang="en-US" sz="2800" b="1" dirty="0"/>
              <a:t>Seed</a:t>
            </a:r>
            <a:r>
              <a:rPr lang="ru-RU" sz="2800" b="1" dirty="0"/>
              <a:t>: </a:t>
            </a:r>
            <a:r>
              <a:rPr lang="en-US" sz="2800" dirty="0"/>
              <a:t>11, 22, 33, 44, 55</a:t>
            </a:r>
            <a:endParaRPr lang="ru-RU" sz="2800" dirty="0"/>
          </a:p>
          <a:p>
            <a:pPr algn="just"/>
            <a:r>
              <a:rPr lang="ru-RU" sz="2800" b="1" dirty="0"/>
              <a:t>Эпизоды: </a:t>
            </a:r>
            <a:r>
              <a:rPr lang="ru-RU" sz="2800" dirty="0"/>
              <a:t>100 </a:t>
            </a:r>
            <a:r>
              <a:rPr lang="en-US" sz="2800" dirty="0"/>
              <a:t>/</a:t>
            </a:r>
            <a:r>
              <a:rPr lang="ru-RU" sz="2800" dirty="0"/>
              <a:t> конфигурация</a:t>
            </a:r>
            <a:endParaRPr lang="ru-RU" sz="2800" b="1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76728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695325" y="554695"/>
            <a:ext cx="10801350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4400" b="1" dirty="0">
                <a:latin typeface="+mj-lt"/>
              </a:rPr>
              <a:t>Результаты: длительность маршрута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695325" y="1868736"/>
            <a:ext cx="1080135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/>
              <a:t>Повышение плотности трафика = рост неопределенности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/>
              <a:t>Стратегии </a:t>
            </a:r>
            <a:r>
              <a:rPr lang="en-US" sz="2000" b="1" dirty="0"/>
              <a:t>Safe </a:t>
            </a:r>
            <a:r>
              <a:rPr lang="ru-RU" sz="2000" dirty="0"/>
              <a:t>и </a:t>
            </a:r>
            <a:r>
              <a:rPr lang="en-US" sz="2000" b="1" dirty="0"/>
              <a:t>Predictive</a:t>
            </a:r>
            <a:r>
              <a:rPr lang="ru-RU" sz="2000" b="1" dirty="0"/>
              <a:t> </a:t>
            </a:r>
            <a:r>
              <a:rPr lang="ru-RU" sz="2000" dirty="0"/>
              <a:t>требуют больше шагов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Shortest </a:t>
            </a:r>
            <a:r>
              <a:rPr lang="ru-RU" sz="2000" dirty="0"/>
              <a:t>всегда идет напролом</a:t>
            </a:r>
            <a:endParaRPr lang="ru-RU" sz="2000" b="1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6</a:t>
            </a:fld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AA0276A-CFFC-8715-D99B-76D86D578B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3429000"/>
            <a:ext cx="10801350" cy="28755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060979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695325" y="554695"/>
            <a:ext cx="10801350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4400" b="1" dirty="0">
                <a:latin typeface="+mj-lt"/>
              </a:rPr>
              <a:t>Результаты: успех доставки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695325" y="1590313"/>
            <a:ext cx="1080135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Predictive </a:t>
            </a:r>
            <a:r>
              <a:rPr lang="en-US" sz="2000" dirty="0"/>
              <a:t>– </a:t>
            </a:r>
            <a:r>
              <a:rPr lang="ru-RU" sz="2000" dirty="0"/>
              <a:t>самая надежная стратегия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Shortest </a:t>
            </a:r>
            <a:r>
              <a:rPr lang="ru-RU" sz="2000" dirty="0"/>
              <a:t>и </a:t>
            </a:r>
            <a:r>
              <a:rPr lang="en-US" sz="2000" b="1" dirty="0"/>
              <a:t>Safe </a:t>
            </a:r>
            <a:r>
              <a:rPr lang="ru-RU" sz="2000" dirty="0"/>
              <a:t>показывают нестабильные результаты из-за частых аварий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7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9479FC3-09D9-7772-C2E4-E284C87822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5325" y="2569658"/>
            <a:ext cx="10801350" cy="37390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501844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695325" y="554695"/>
            <a:ext cx="10801350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4400" b="1" dirty="0">
                <a:latin typeface="+mj-lt"/>
              </a:rPr>
              <a:t>Результаты: скорость доставки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695325" y="1413846"/>
            <a:ext cx="1080135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Predictive </a:t>
            </a:r>
            <a:r>
              <a:rPr lang="ru-RU" sz="2000" dirty="0"/>
              <a:t>имеет длинный хвост задержек (выбросов) из-за вынужденных простоев перед машинами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Shortest </a:t>
            </a:r>
            <a:r>
              <a:rPr lang="ru-RU" sz="2000" dirty="0"/>
              <a:t>и </a:t>
            </a:r>
            <a:r>
              <a:rPr lang="en-US" sz="2000" b="1" dirty="0"/>
              <a:t>Safe </a:t>
            </a:r>
            <a:r>
              <a:rPr lang="ru-RU" sz="2000" dirty="0"/>
              <a:t>при успехе всегда имеют скорость 1.0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8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B5442F-A6C5-87A5-3720-F4B8ED1B29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5325" y="2519220"/>
            <a:ext cx="10801350" cy="37390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060631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695325" y="554695"/>
            <a:ext cx="10801350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4400" b="1" dirty="0">
                <a:latin typeface="+mj-lt"/>
              </a:rPr>
              <a:t>Результаты: визуализация симуляции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F5B869-FCA3-91D3-678D-F5E5BE3D9772}"/>
              </a:ext>
            </a:extLst>
          </p:cNvPr>
          <p:cNvSpPr txBox="1"/>
          <p:nvPr/>
        </p:nvSpPr>
        <p:spPr>
          <a:xfrm>
            <a:off x="695325" y="2105561"/>
            <a:ext cx="5400675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b="1" dirty="0"/>
              <a:t>Стратегия: </a:t>
            </a:r>
            <a:r>
              <a:rPr lang="en-US" sz="2000" dirty="0"/>
              <a:t>predictive</a:t>
            </a:r>
          </a:p>
          <a:p>
            <a:pPr algn="just"/>
            <a:r>
              <a:rPr lang="ru-RU" sz="2000" b="1" dirty="0"/>
              <a:t>Вероятность генерации машин: </a:t>
            </a:r>
            <a:r>
              <a:rPr lang="ru-RU" sz="2000" dirty="0"/>
              <a:t>0.02</a:t>
            </a:r>
          </a:p>
          <a:p>
            <a:pPr algn="just"/>
            <a:r>
              <a:rPr lang="ru-RU" sz="2000" b="1" dirty="0"/>
              <a:t>Старт: </a:t>
            </a:r>
            <a:r>
              <a:rPr lang="ru-RU" sz="2000" dirty="0"/>
              <a:t>1</a:t>
            </a:r>
          </a:p>
          <a:p>
            <a:pPr algn="just"/>
            <a:r>
              <a:rPr lang="en-US" sz="2000" b="1" dirty="0"/>
              <a:t>Seed</a:t>
            </a:r>
            <a:r>
              <a:rPr lang="ru-RU" sz="2000" b="1" dirty="0"/>
              <a:t>: </a:t>
            </a:r>
            <a:r>
              <a:rPr lang="ru-RU" sz="2000" dirty="0"/>
              <a:t>11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9</a:t>
            </a:fld>
            <a:endParaRPr lang="ru-RU"/>
          </a:p>
        </p:txBody>
      </p:sp>
      <p:pic>
        <p:nvPicPr>
          <p:cNvPr id="4" name="Рисунок 3" descr="Изображение выглядит как прямоугольный, снимок экрана, Прямоугольник, карт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11A1EFC-4FB7-138B-7F26-B015578E39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5" t="6810" r="7561" b="6810"/>
          <a:stretch/>
        </p:blipFill>
        <p:spPr>
          <a:xfrm>
            <a:off x="6390566" y="1393612"/>
            <a:ext cx="4709925" cy="47952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2AFC17-46CC-1CF7-45C1-AC73B52CABD0}"/>
              </a:ext>
            </a:extLst>
          </p:cNvPr>
          <p:cNvSpPr txBox="1"/>
          <p:nvPr/>
        </p:nvSpPr>
        <p:spPr>
          <a:xfrm>
            <a:off x="695325" y="3621808"/>
            <a:ext cx="5389656" cy="16312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2000" b="1" dirty="0"/>
              <a:t>Старт: </a:t>
            </a:r>
            <a:r>
              <a:rPr lang="ru-RU" sz="2000" dirty="0"/>
              <a:t>голубой цвет</a:t>
            </a:r>
          </a:p>
          <a:p>
            <a:pPr algn="just"/>
            <a:r>
              <a:rPr lang="ru-RU" sz="2000" b="1" dirty="0"/>
              <a:t>Агент: </a:t>
            </a:r>
            <a:r>
              <a:rPr lang="ru-RU" sz="2000" dirty="0"/>
              <a:t>синий цвет</a:t>
            </a:r>
          </a:p>
          <a:p>
            <a:pPr algn="just"/>
            <a:r>
              <a:rPr lang="ru-RU" sz="2000" b="1" dirty="0"/>
              <a:t>Точки генерации машин: </a:t>
            </a:r>
            <a:r>
              <a:rPr lang="ru-RU" sz="2000" dirty="0"/>
              <a:t>оранжевый цвет</a:t>
            </a:r>
          </a:p>
          <a:p>
            <a:pPr algn="just"/>
            <a:r>
              <a:rPr lang="ru-RU" sz="2000" b="1" dirty="0"/>
              <a:t>Цель</a:t>
            </a:r>
            <a:r>
              <a:rPr lang="ru-RU" sz="2000" dirty="0"/>
              <a:t>: зеленый цвет</a:t>
            </a:r>
          </a:p>
          <a:p>
            <a:pPr algn="just"/>
            <a:r>
              <a:rPr lang="ru-RU" sz="2000" b="1" dirty="0"/>
              <a:t>Машины: </a:t>
            </a:r>
            <a:r>
              <a:rPr lang="ru-RU" sz="2000" dirty="0"/>
              <a:t>красный цвет</a:t>
            </a:r>
            <a:endParaRPr lang="ru-RU" sz="2000" b="1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6B54BD98-6FBC-6BA8-1B5D-63B7CAD03795}"/>
              </a:ext>
            </a:extLst>
          </p:cNvPr>
          <p:cNvCxnSpPr>
            <a:cxnSpLocks/>
          </p:cNvCxnSpPr>
          <p:nvPr/>
        </p:nvCxnSpPr>
        <p:spPr>
          <a:xfrm>
            <a:off x="955343" y="3520564"/>
            <a:ext cx="4858603" cy="0"/>
          </a:xfrm>
          <a:prstGeom prst="line">
            <a:avLst/>
          </a:prstGeom>
          <a:ln w="12700">
            <a:solidFill>
              <a:schemeClr val="bg1">
                <a:lumMod val="50000"/>
                <a:alpha val="47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81658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1B6E55-C1E7-22C7-FFCB-604BB72C480D}"/>
              </a:ext>
            </a:extLst>
          </p:cNvPr>
          <p:cNvSpPr txBox="1"/>
          <p:nvPr/>
        </p:nvSpPr>
        <p:spPr>
          <a:xfrm>
            <a:off x="695325" y="554695"/>
            <a:ext cx="10801350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ru-RU" sz="4400" b="1" dirty="0">
                <a:latin typeface="+mj-lt"/>
              </a:rPr>
              <a:t>Вывод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24ECB0-4347-288D-3116-357235DC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10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2AFC17-46CC-1CF7-45C1-AC73B52CABD0}"/>
              </a:ext>
            </a:extLst>
          </p:cNvPr>
          <p:cNvSpPr txBox="1"/>
          <p:nvPr/>
        </p:nvSpPr>
        <p:spPr>
          <a:xfrm>
            <a:off x="695325" y="2090172"/>
            <a:ext cx="10741499" cy="2677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800" dirty="0"/>
              <a:t>Создан симулятор среды с неопределённостью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800" dirty="0"/>
              <a:t>Реализованы 3 стратегии передвижения агента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800" dirty="0"/>
              <a:t>Построены графики, анализирующие скорость и успех доставок каждой стратегии с разных стартов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800" dirty="0"/>
              <a:t>Создана визуализация симуляции для наглядной демонстрации одной из стратегий</a:t>
            </a:r>
          </a:p>
        </p:txBody>
      </p:sp>
    </p:spTree>
    <p:extLst>
      <p:ext uri="{BB962C8B-B14F-4D97-AF65-F5344CB8AC3E}">
        <p14:creationId xmlns:p14="http://schemas.microsoft.com/office/powerpoint/2010/main" val="81277702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6E0652-C363-06DA-A12C-453394A05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2858293"/>
            <a:ext cx="10801349" cy="1141413"/>
          </a:xfrm>
        </p:spPr>
        <p:txBody>
          <a:bodyPr/>
          <a:lstStyle/>
          <a:p>
            <a:pPr algn="ctr"/>
            <a:r>
              <a:rPr lang="ru-RU" b="1" dirty="0"/>
              <a:t>Спасибо за внимание!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20CA38D-6AB6-8BDB-808C-C23C15E87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71D6-626E-4711-87E0-599E0F8A4C9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921519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363</Words>
  <Application>Microsoft Office PowerPoint</Application>
  <PresentationFormat>Широкоэкранный</PresentationFormat>
  <Paragraphs>63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Тема Office</vt:lpstr>
      <vt:lpstr>Лабораторная работа №1: Реализация взаимодействия агента со средой</vt:lpstr>
      <vt:lpstr>Задачи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Temirlan Akramov</dc:creator>
  <cp:lastModifiedBy>Temirlan Akramov</cp:lastModifiedBy>
  <cp:revision>15</cp:revision>
  <dcterms:created xsi:type="dcterms:W3CDTF">2026-09-16T15:58:33Z</dcterms:created>
  <dcterms:modified xsi:type="dcterms:W3CDTF">2026-10-13T16:08:32Z</dcterms:modified>
</cp:coreProperties>
</file>